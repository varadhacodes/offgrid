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"/>
  </p:notesMasterIdLst>
  <p:sldIdLst>
    <p:sldId id="290" r:id="rId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4"/>
  </p:normalViewPr>
  <p:slideViewPr>
    <p:cSldViewPr snapToGrid="0" snapToObjects="1">
      <p:cViewPr varScale="1">
        <p:scale>
          <a:sx n="96" d="100"/>
          <a:sy n="96" d="100"/>
        </p:scale>
        <p:origin x="200" y="7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 descr="A map of a city&#10;&#10;Description automatically generated">
            <a:extLst>
              <a:ext uri="{FF2B5EF4-FFF2-40B4-BE49-F238E27FC236}">
                <a16:creationId xmlns:a16="http://schemas.microsoft.com/office/drawing/2014/main" id="{29FDCE07-44EA-CCD6-564D-03BC0E05D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075" y="1790700"/>
            <a:ext cx="2247900" cy="2247900"/>
          </a:xfrm>
          <a:prstGeom prst="rect">
            <a:avLst/>
          </a:prstGeom>
          <a:effectLst>
            <a:outerShdw blurRad="50800" dist="38100" dir="2700000" sx="102000" sy="102000" algn="tl" rotWithShape="0">
              <a:srgbClr val="0070C0">
                <a:alpha val="27013"/>
              </a:srgbClr>
            </a:outerShdw>
          </a:effectLst>
        </p:spPr>
      </p:pic>
      <p:pic>
        <p:nvPicPr>
          <p:cNvPr id="40" name="CNN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675" y="1790700"/>
            <a:ext cx="2247900" cy="2247900"/>
          </a:xfrm>
          <a:prstGeom prst="rect">
            <a:avLst/>
          </a:prstGeom>
          <a:effectLst>
            <a:outerShdw blurRad="50800" dist="38100" dir="2700000" sx="102000" sy="102000" algn="tl" rotWithShape="0">
              <a:srgbClr val="0070C0">
                <a:alpha val="27000"/>
              </a:srgbClr>
            </a:outerShdw>
          </a:effectLst>
        </p:spPr>
      </p:pic>
      <p:pic>
        <p:nvPicPr>
          <p:cNvPr id="41" name="Fusion diagr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1790700"/>
            <a:ext cx="2247900" cy="2247900"/>
          </a:xfrm>
          <a:prstGeom prst="rect">
            <a:avLst/>
          </a:prstGeom>
          <a:effectLst>
            <a:outerShdw blurRad="50800" dist="38100" dir="2700000" sx="102000" sy="102000" algn="tl" rotWithShape="0">
              <a:srgbClr val="0070C0">
                <a:alpha val="25991"/>
              </a:srgbClr>
            </a:outerShdw>
          </a:effectLst>
        </p:spPr>
      </p:pic>
      <p:sp>
        <p:nvSpPr>
          <p:cNvPr id="50" name="Flow arrow 50"/>
          <p:cNvSpPr/>
          <p:nvPr/>
        </p:nvSpPr>
        <p:spPr>
          <a:xfrm>
            <a:off x="3028950" y="2828925"/>
            <a:ext cx="209550" cy="171450"/>
          </a:xfrm>
          <a:prstGeom prst="rightArrow">
            <a:avLst>
              <a:gd name="adj1" fmla="val 52000"/>
              <a:gd name="adj2" fmla="val 48000"/>
            </a:avLst>
          </a:prstGeom>
          <a:solidFill>
            <a:srgbClr val="1F26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Flow arrow 51"/>
          <p:cNvSpPr/>
          <p:nvPr/>
        </p:nvSpPr>
        <p:spPr>
          <a:xfrm>
            <a:off x="5962650" y="2828925"/>
            <a:ext cx="209550" cy="171450"/>
          </a:xfrm>
          <a:prstGeom prst="rightArrow">
            <a:avLst>
              <a:gd name="adj1" fmla="val 52000"/>
              <a:gd name="adj2" fmla="val 48000"/>
            </a:avLst>
          </a:prstGeom>
          <a:solidFill>
            <a:srgbClr val="1F26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Flow arrow 52"/>
          <p:cNvSpPr/>
          <p:nvPr/>
        </p:nvSpPr>
        <p:spPr>
          <a:xfrm>
            <a:off x="8896350" y="2828925"/>
            <a:ext cx="209550" cy="171450"/>
          </a:xfrm>
          <a:prstGeom prst="rightArrow">
            <a:avLst>
              <a:gd name="adj1" fmla="val 52000"/>
              <a:gd name="adj2" fmla="val 48000"/>
            </a:avLst>
          </a:prstGeom>
          <a:solidFill>
            <a:srgbClr val="1F26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Card title 1"/>
          <p:cNvSpPr txBox="1"/>
          <p:nvPr/>
        </p:nvSpPr>
        <p:spPr>
          <a:xfrm>
            <a:off x="381000" y="1428750"/>
            <a:ext cx="2609850" cy="323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rgbClr val="1418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Phone sensors</a:t>
            </a:r>
          </a:p>
        </p:txBody>
      </p:sp>
      <p:sp>
        <p:nvSpPr>
          <p:cNvPr id="200" name="Card caption 1"/>
          <p:cNvSpPr txBox="1"/>
          <p:nvPr/>
        </p:nvSpPr>
        <p:spPr>
          <a:xfrm>
            <a:off x="381000" y="4114800"/>
            <a:ext cx="2609850" cy="15430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4000"/>
              </a:lnSpc>
              <a:spcBef>
                <a:spcPts val="140"/>
              </a:spcBef>
            </a:pPr>
            <a:r>
              <a:rPr lang="en-US" sz="1400" b="1" dirty="0">
                <a:solidFill>
                  <a:srgbClr val="22282F"/>
                </a:solidFill>
                <a:latin typeface="Calibri"/>
                <a:cs typeface="Calibri"/>
              </a:rPr>
              <a:t>1 — RAW MOTION DATA</a:t>
            </a:r>
          </a:p>
          <a:p>
            <a:pPr>
              <a:lnSpc>
                <a:spcPct val="104000"/>
              </a:lnSpc>
              <a:spcBef>
                <a:spcPts val="140"/>
              </a:spcBef>
            </a:pPr>
            <a:r>
              <a:rPr lang="en-US" sz="1400" b="1" dirty="0">
                <a:solidFill>
                  <a:srgbClr val="22282F"/>
                </a:solidFill>
                <a:latin typeface="Calibri"/>
                <a:cs typeface="Calibri"/>
              </a:rPr>
              <a:t>6 IMU signals, sampled at 100 Hz</a:t>
            </a:r>
          </a:p>
          <a:p>
            <a:pPr>
              <a:lnSpc>
                <a:spcPct val="104000"/>
              </a:lnSpc>
              <a:spcBef>
                <a:spcPts val="140"/>
              </a:spcBef>
            </a:pPr>
            <a:r>
              <a:rPr lang="en-US" sz="1400" b="0" dirty="0">
                <a:solidFill>
                  <a:srgbClr val="22282F"/>
                </a:solidFill>
                <a:latin typeface="Calibri"/>
                <a:cs typeface="Calibri"/>
              </a:rPr>
              <a:t>3-axis accelerometer + 3-axis gyroscope.</a:t>
            </a:r>
          </a:p>
          <a:p>
            <a:pPr>
              <a:lnSpc>
                <a:spcPct val="104000"/>
              </a:lnSpc>
              <a:spcBef>
                <a:spcPts val="140"/>
              </a:spcBef>
            </a:pPr>
            <a:r>
              <a:rPr lang="en-US" sz="1400" b="0" dirty="0">
                <a:solidFill>
                  <a:srgbClr val="22282F"/>
                </a:solidFill>
                <a:latin typeface="Calibri"/>
                <a:cs typeface="Calibri"/>
              </a:rPr>
              <a:t>A </a:t>
            </a:r>
            <a:r>
              <a:rPr lang="en-US" sz="1400" b="1" dirty="0">
                <a:solidFill>
                  <a:srgbClr val="22282F"/>
                </a:solidFill>
                <a:latin typeface="Calibri"/>
                <a:cs typeface="Calibri"/>
              </a:rPr>
              <a:t>2.56-second window = 256 readings</a:t>
            </a:r>
            <a:r>
              <a:rPr lang="en-US" sz="1400" b="0" dirty="0">
                <a:solidFill>
                  <a:srgbClr val="22282F"/>
                </a:solidFill>
                <a:latin typeface="Calibri"/>
                <a:cs typeface="Calibri"/>
              </a:rPr>
              <a:t> of vehicle motion.</a:t>
            </a:r>
          </a:p>
        </p:txBody>
      </p:sp>
      <p:sp>
        <p:nvSpPr>
          <p:cNvPr id="61" name="Card title 2"/>
          <p:cNvSpPr txBox="1"/>
          <p:nvPr/>
        </p:nvSpPr>
        <p:spPr>
          <a:xfrm>
            <a:off x="3314700" y="1428750"/>
            <a:ext cx="2609850" cy="323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rgbClr val="1418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1-D CNN</a:t>
            </a:r>
          </a:p>
        </p:txBody>
      </p:sp>
      <p:sp>
        <p:nvSpPr>
          <p:cNvPr id="201" name="Card caption 2"/>
          <p:cNvSpPr txBox="1"/>
          <p:nvPr/>
        </p:nvSpPr>
        <p:spPr>
          <a:xfrm>
            <a:off x="3314700" y="4114800"/>
            <a:ext cx="2609850" cy="15430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4000"/>
              </a:lnSpc>
              <a:spcBef>
                <a:spcPts val="140"/>
              </a:spcBef>
            </a:pPr>
            <a:r>
              <a:rPr lang="en-US" sz="1400" b="0" dirty="0">
                <a:solidFill>
                  <a:srgbClr val="22282F"/>
                </a:solidFill>
                <a:latin typeface="Calibri"/>
                <a:cs typeface="Calibri"/>
              </a:rPr>
              <a:t>A small network </a:t>
            </a:r>
            <a:r>
              <a:rPr lang="en-US" sz="1400" b="1" dirty="0">
                <a:solidFill>
                  <a:srgbClr val="22282F"/>
                </a:solidFill>
                <a:latin typeface="Calibri"/>
                <a:cs typeface="Calibri"/>
              </a:rPr>
              <a:t>learned how vibration changes with speed</a:t>
            </a:r>
            <a:r>
              <a:rPr lang="en-US" sz="1400" b="0" dirty="0">
                <a:solidFill>
                  <a:srgbClr val="22282F"/>
                </a:solidFill>
                <a:latin typeface="Calibri"/>
                <a:cs typeface="Calibri"/>
              </a:rPr>
              <a:t>. It reads the speed from the motion and its own uncertainty. 57 k weights, 240 KB.</a:t>
            </a:r>
          </a:p>
        </p:txBody>
      </p:sp>
      <p:sp>
        <p:nvSpPr>
          <p:cNvPr id="62" name="Card title 3"/>
          <p:cNvSpPr txBox="1"/>
          <p:nvPr/>
        </p:nvSpPr>
        <p:spPr>
          <a:xfrm>
            <a:off x="6248400" y="1428750"/>
            <a:ext cx="2609850" cy="323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rgbClr val="1418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Fusion filter</a:t>
            </a:r>
          </a:p>
        </p:txBody>
      </p:sp>
      <p:sp>
        <p:nvSpPr>
          <p:cNvPr id="202" name="Card caption 3"/>
          <p:cNvSpPr txBox="1"/>
          <p:nvPr/>
        </p:nvSpPr>
        <p:spPr>
          <a:xfrm>
            <a:off x="6248400" y="4114800"/>
            <a:ext cx="2609850" cy="15430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4000"/>
              </a:lnSpc>
              <a:spcBef>
                <a:spcPts val="140"/>
              </a:spcBef>
            </a:pPr>
            <a:r>
              <a:rPr lang="en-US" sz="1400" b="0" dirty="0">
                <a:solidFill>
                  <a:srgbClr val="22282F"/>
                </a:solidFill>
                <a:latin typeface="Calibri"/>
                <a:cs typeface="Calibri"/>
              </a:rPr>
              <a:t>Speed, direction and the satellite never quite agree. The filter decides weight of each, 10 times a second.</a:t>
            </a:r>
          </a:p>
        </p:txBody>
      </p:sp>
      <p:sp>
        <p:nvSpPr>
          <p:cNvPr id="63" name="Card title 4"/>
          <p:cNvSpPr txBox="1"/>
          <p:nvPr/>
        </p:nvSpPr>
        <p:spPr>
          <a:xfrm>
            <a:off x="9182100" y="1428750"/>
            <a:ext cx="2609850" cy="323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rgbClr val="1418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map</a:t>
            </a:r>
          </a:p>
        </p:txBody>
      </p:sp>
      <p:sp>
        <p:nvSpPr>
          <p:cNvPr id="203" name="Card caption 4"/>
          <p:cNvSpPr txBox="1"/>
          <p:nvPr/>
        </p:nvSpPr>
        <p:spPr>
          <a:xfrm>
            <a:off x="9182100" y="4114800"/>
            <a:ext cx="2609850" cy="15430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4000"/>
              </a:lnSpc>
              <a:spcBef>
                <a:spcPts val="140"/>
              </a:spcBef>
            </a:pPr>
            <a:r>
              <a:rPr lang="en-US" sz="1400" b="1" dirty="0">
                <a:solidFill>
                  <a:srgbClr val="22282F"/>
                </a:solidFill>
                <a:latin typeface="Calibri"/>
                <a:cs typeface="Calibri"/>
              </a:rPr>
              <a:t>The position keeps updating even when GNSS is switched off</a:t>
            </a:r>
          </a:p>
          <a:p>
            <a:pPr>
              <a:lnSpc>
                <a:spcPct val="104000"/>
              </a:lnSpc>
              <a:spcBef>
                <a:spcPts val="140"/>
              </a:spcBef>
            </a:pPr>
            <a:r>
              <a:rPr lang="en-US" sz="1400" b="0" dirty="0">
                <a:solidFill>
                  <a:srgbClr val="22282F"/>
                </a:solidFill>
                <a:latin typeface="Calibri"/>
                <a:cs typeface="Calibri"/>
              </a:rPr>
              <a:t>On the test road: </a:t>
            </a:r>
            <a:r>
              <a:rPr lang="en-US" sz="1400" b="1" dirty="0">
                <a:solidFill>
                  <a:srgbClr val="22282F"/>
                </a:solidFill>
                <a:latin typeface="Calibri"/>
                <a:cs typeface="Calibri"/>
              </a:rPr>
              <a:t>569 m dead-reckoned → only 17.3 m position error at the end.</a:t>
            </a:r>
          </a:p>
        </p:txBody>
      </p:sp>
      <p:pic>
        <p:nvPicPr>
          <p:cNvPr id="4" name="Picture 3" descr="A diagram of a cell phone&#10;&#10;Description automatically generated">
            <a:extLst>
              <a:ext uri="{FF2B5EF4-FFF2-40B4-BE49-F238E27FC236}">
                <a16:creationId xmlns:a16="http://schemas.microsoft.com/office/drawing/2014/main" id="{5F728B7A-271A-6A62-D96E-790F2653A0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1790700"/>
            <a:ext cx="2247900" cy="2247900"/>
          </a:xfrm>
          <a:prstGeom prst="rect">
            <a:avLst/>
          </a:prstGeom>
          <a:effectLst>
            <a:outerShdw blurRad="50800" dist="38100" dir="2700000" sx="102000" sy="102000" algn="tl" rotWithShape="0">
              <a:srgbClr val="0070C0">
                <a:alpha val="27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14B408-F415-8A6E-8FB9-6346AC4F2B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064" y="0"/>
            <a:ext cx="2278117" cy="12369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724883-8C94-2B0B-7410-0E867C4BDD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0817" y="5708222"/>
            <a:ext cx="3999119" cy="609203"/>
          </a:xfrm>
          <a:prstGeom prst="rect">
            <a:avLst/>
          </a:prstGeom>
        </p:spPr>
      </p:pic>
      <p:sp>
        <p:nvSpPr>
          <p:cNvPr id="210" name="Training note"/>
          <p:cNvSpPr txBox="1"/>
          <p:nvPr/>
        </p:nvSpPr>
        <p:spPr>
          <a:xfrm>
            <a:off x="381000" y="5753100"/>
            <a:ext cx="742950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</a:pPr>
            <a:r>
              <a:rPr lang="en-US" sz="1400" b="0" dirty="0">
                <a:solidFill>
                  <a:srgbClr val="333B45"/>
                </a:solidFill>
                <a:latin typeface="Calibri"/>
                <a:cs typeface="Calibri"/>
              </a:rPr>
              <a:t>Trained on 30 logged rides over two campus roads, with GNSS speed as the label, then tested on rides the model had never seen.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7627</TotalTime>
  <Words>129</Words>
  <Application>Microsoft Macintosh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Calibri</vt:lpstr>
      <vt:lpstr>Times New Roman</vt:lpstr>
      <vt:lpstr>TradeGothic</vt:lpstr>
      <vt:lpstr>Office Theme</vt:lpstr>
      <vt:lpstr>TECHNICAL APPROACH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LOKKESH A</cp:lastModifiedBy>
  <cp:revision>153</cp:revision>
  <dcterms:created xsi:type="dcterms:W3CDTF">2013-12-12T18:46:50Z</dcterms:created>
  <dcterms:modified xsi:type="dcterms:W3CDTF">2026-09-06T01:32:02Z</dcterms:modified>
  <cp:category/>
</cp:coreProperties>
</file>